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1-3.svg" ContentType="image/svg+xml"/>
  <Override PartName="/ppt/media/image-11-5.svg" ContentType="image/svg+xml"/>
  <Override PartName="/ppt/media/image-11-7.svg" ContentType="image/svg+xml"/>
  <Override PartName="/ppt/media/image-11-9.svg" ContentType="image/svg+xml"/>
  <Override PartName="/ppt/media/image-3-3.svg" ContentType="image/svg+xml"/>
  <Override PartName="/ppt/media/image-3-5.svg" ContentType="image/svg+xml"/>
  <Override PartName="/ppt/media/image-3-7.svg" ContentType="image/svg+xml"/>
  <Override PartName="/ppt/media/image-3-9.svg" ContentType="image/svg+xml"/>
  <Override PartName="/ppt/media/image-4-10.svg" ContentType="image/svg+xml"/>
  <Override PartName="/ppt/media/image-4-12.svg" ContentType="image/svg+xml"/>
  <Override PartName="/ppt/media/image-4-14.svg" ContentType="image/svg+xml"/>
  <Override PartName="/ppt/media/image-4-16.svg" ContentType="image/svg+xml"/>
  <Override PartName="/ppt/media/image-4-2.svg" ContentType="image/svg+xml"/>
  <Override PartName="/ppt/media/image-4-4.svg" ContentType="image/svg+xml"/>
  <Override PartName="/ppt/media/image-4-6.svg" ContentType="image/svg+xml"/>
  <Override PartName="/ppt/media/image-4-8.svg" ContentType="image/svg+xml"/>
  <Override PartName="/ppt/media/image-5-2.svg" ContentType="image/svg+xml"/>
  <Override PartName="/ppt/media/image-5-4.svg" ContentType="image/svg+xml"/>
  <Override PartName="/ppt/media/image-5-6.svg" ContentType="image/svg+xml"/>
  <Override PartName="/ppt/media/image-5-8.svg" ContentType="image/svg+xml"/>
  <Override PartName="/ppt/media/image-6-2.svg" ContentType="image/svg+xml"/>
  <Override PartName="/ppt/media/image-6-4.svg" ContentType="image/svg+xml"/>
  <Override PartName="/ppt/media/image-6-7.svg" ContentType="image/svg+xml"/>
  <Override PartName="/ppt/media/image-6-9.svg" ContentType="image/svg+xml"/>
  <Override PartName="/ppt/media/image-7-3.svg" ContentType="image/svg+xml"/>
  <Override PartName="/ppt/media/image-7-5.svg" ContentType="image/svg+xml"/>
  <Override PartName="/ppt/media/image-7-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Barlow"/>
      <p:regular r:id="rId201314"/>
    </p:embeddedFont>
    <p:embeddedFont>
      <p:font typeface="Barlow Bold"/>
      <p:regular r:id="rId201315"/>
    </p:embeddedFont>
    <p:embeddedFont>
      <p:font typeface="Barlow Black"/>
      <p:regular r:id="rId201316"/>
    </p:embeddedFont>
    <p:embeddedFont>
      <p:font typeface="Spline Sans Bold"/>
      <p:regular r:id="rId201317"/>
    </p:embeddedFont>
    <p:embeddedFont>
      <p:font typeface="Spline Sans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Relationship Id="rId201318" Type="http://schemas.openxmlformats.org/officeDocument/2006/relationships/font" Target="fonts/201318.fntdata"/><Relationship Id="rId201319" Type="http://schemas.openxmlformats.org/officeDocument/2006/relationships/font" Target="fonts/201319.fntdata"/><Relationship Id="rId201320" Type="http://schemas.openxmlformats.org/officeDocument/2006/relationships/font" Target="fonts/201320.fntdata"/><Relationship Id="rId201321" Type="http://schemas.openxmlformats.org/officeDocument/2006/relationships/font" Target="fonts/201321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1.png"/><Relationship Id="rId10" Type="http://schemas.openxmlformats.org/officeDocument/2006/relationships/image" Target="../media/image-5-2.svg"/><Relationship Id="rId11" Type="http://schemas.openxmlformats.org/officeDocument/2006/relationships/image" Target="../media/image-5-3.png"/><Relationship Id="rId12" Type="http://schemas.openxmlformats.org/officeDocument/2006/relationships/image" Target="../media/image-5-4.svg"/><Relationship Id="rId13" Type="http://schemas.openxmlformats.org/officeDocument/2006/relationships/image" Target="../media/image-5-13.jpe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6.xml"/><Relationship Id="rId1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7.xml"/><Relationship Id="rId11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6-5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svg"/><Relationship Id="rId4" Type="http://schemas.openxmlformats.org/officeDocument/2006/relationships/image" Target="../media/image-11-4.png"/><Relationship Id="rId5" Type="http://schemas.openxmlformats.org/officeDocument/2006/relationships/image" Target="../media/image-11-5.svg"/><Relationship Id="rId6" Type="http://schemas.openxmlformats.org/officeDocument/2006/relationships/image" Target="../media/image-11-6.png"/><Relationship Id="rId7" Type="http://schemas.openxmlformats.org/officeDocument/2006/relationships/image" Target="../media/image-11-7.svg"/><Relationship Id="rId8" Type="http://schemas.openxmlformats.org/officeDocument/2006/relationships/image" Target="../media/image-11-8.png"/><Relationship Id="rId9" Type="http://schemas.openxmlformats.org/officeDocument/2006/relationships/image" Target="../media/image-11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0A081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88" y="518021"/>
            <a:ext cx="4366210" cy="58218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91898" y="2258318"/>
            <a:ext cx="61797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Movie Ticket Booking Management System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5291898" y="3709888"/>
            <a:ext cx="6179784" cy="889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800"/>
              </a:spcAft>
              <a:buNone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 Database Management System Project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Akshaya B  |  CSE (AI &amp; ML)  |  MySQL &amp; MySQL Workbench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888107"/>
            <a:ext cx="6818340" cy="1107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Introduction &amp; Problem Statement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720012" y="2072580"/>
            <a:ext cx="681834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What This System Manages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20012" y="2426593"/>
            <a:ext cx="681834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Problem Statement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20012" y="2896493"/>
            <a:ext cx="6818340" cy="1255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Traditional booking systems struggle to manage movie information, available seats, customer bookings, and payment records efficiently. This project organizes all information in a structured relational database and </a:t>
            </a:r>
            <a:pPr algn="l" indent="0" marL="0">
              <a:lnSpc>
                <a:spcPct val="131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reduces data redundancy</a:t>
            </a:r>
            <a:pPr algn="l" indent="0" marL="0">
              <a:lnSpc>
                <a:spcPct val="131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5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0862" y="786904"/>
            <a:ext cx="3447071" cy="344715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0012" y="4668441"/>
            <a:ext cx="2543111" cy="713383"/>
          </a:xfrm>
          <a:prstGeom prst="roundRect">
            <a:avLst>
              <a:gd name="adj" fmla="val 41907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8288" y="4886722"/>
            <a:ext cx="210656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Movies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456199" y="4668441"/>
            <a:ext cx="2543111" cy="713383"/>
          </a:xfrm>
          <a:prstGeom prst="roundRect">
            <a:avLst>
              <a:gd name="adj" fmla="val 41907"/>
            </a:avLst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74474" y="4886722"/>
            <a:ext cx="210656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Users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192385" y="4668441"/>
            <a:ext cx="2543012" cy="713383"/>
          </a:xfrm>
          <a:prstGeom prst="roundRect">
            <a:avLst>
              <a:gd name="adj" fmla="val 41907"/>
            </a:avLst>
          </a:prstGeom>
          <a:solidFill>
            <a:srgbClr val="0A081B"/>
          </a:solidFill>
          <a:ln w="19050">
            <a:solidFill>
              <a:srgbClr val="37A7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10661" y="4886722"/>
            <a:ext cx="210646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Screens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8928472" y="4668441"/>
            <a:ext cx="2543211" cy="713383"/>
          </a:xfrm>
          <a:prstGeom prst="roundRect">
            <a:avLst>
              <a:gd name="adj" fmla="val 41907"/>
            </a:avLst>
          </a:prstGeom>
          <a:solidFill>
            <a:srgbClr val="0A081B"/>
          </a:solidFill>
          <a:ln w="19050">
            <a:solidFill>
              <a:srgbClr val="09123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6748" y="4886722"/>
            <a:ext cx="210665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Seats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720012" y="5574903"/>
            <a:ext cx="3455107" cy="713383"/>
          </a:xfrm>
          <a:prstGeom prst="roundRect">
            <a:avLst>
              <a:gd name="adj" fmla="val 41907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38288" y="5793184"/>
            <a:ext cx="3018556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Shows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4368195" y="5574903"/>
            <a:ext cx="3455207" cy="713383"/>
          </a:xfrm>
          <a:prstGeom prst="roundRect">
            <a:avLst>
              <a:gd name="adj" fmla="val 41907"/>
            </a:avLst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86470" y="5793184"/>
            <a:ext cx="3018655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Bookings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8016476" y="5574903"/>
            <a:ext cx="3455207" cy="713383"/>
          </a:xfrm>
          <a:prstGeom prst="roundRect">
            <a:avLst>
              <a:gd name="adj" fmla="val 41907"/>
            </a:avLst>
          </a:prstGeom>
          <a:solidFill>
            <a:srgbClr val="0A081B"/>
          </a:solidFill>
          <a:ln w="19050">
            <a:solidFill>
              <a:srgbClr val="37A7E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34752" y="5793184"/>
            <a:ext cx="3018655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Payments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0A081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3349" y="492423"/>
            <a:ext cx="4404706" cy="58731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0012" y="589459"/>
            <a:ext cx="6179784" cy="464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Objectives &amp; Technologies Used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720012" y="1393230"/>
            <a:ext cx="2886003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Objectives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2618" y="1786434"/>
            <a:ext cx="250720" cy="2507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63122" y="1778198"/>
            <a:ext cx="2342893" cy="484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Create a centralized movie booking database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2618" y="2567682"/>
            <a:ext cx="250720" cy="25072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63122" y="2559447"/>
            <a:ext cx="2342893" cy="484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Manage movies, cinema screens, seats &amp; shows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2618" y="3348930"/>
            <a:ext cx="250720" cy="25072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63122" y="3340695"/>
            <a:ext cx="2342893" cy="484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Store user information and record bookings &amp; payments</a:t>
            </a:r>
            <a:endParaRPr lang="en-US" sz="13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2618" y="4130179"/>
            <a:ext cx="250720" cy="250726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263122" y="4121944"/>
            <a:ext cx="2342893" cy="484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Demonstrate important DBMS concepts</a:t>
            </a:r>
            <a:endParaRPr lang="en-US" sz="1300" dirty="0"/>
          </a:p>
        </p:txBody>
      </p:sp>
      <p:sp>
        <p:nvSpPr>
          <p:cNvPr id="14" name="Text 7"/>
          <p:cNvSpPr/>
          <p:nvPr/>
        </p:nvSpPr>
        <p:spPr>
          <a:xfrm>
            <a:off x="4020144" y="1393230"/>
            <a:ext cx="2886003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Technologies Used</a:t>
            </a:r>
            <a:endParaRPr lang="en-US" sz="1450" dirty="0"/>
          </a:p>
        </p:txBody>
      </p:sp>
      <p:sp>
        <p:nvSpPr>
          <p:cNvPr id="15" name="Shape 8"/>
          <p:cNvSpPr/>
          <p:nvPr/>
        </p:nvSpPr>
        <p:spPr>
          <a:xfrm>
            <a:off x="4020144" y="1778198"/>
            <a:ext cx="2886003" cy="982563"/>
          </a:xfrm>
          <a:prstGeom prst="roundRect">
            <a:avLst>
              <a:gd name="adj" fmla="val 25519"/>
            </a:avLst>
          </a:prstGeom>
          <a:solidFill>
            <a:srgbClr val="0A081B">
              <a:alpha val="75000"/>
            </a:srgbClr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16" name="Text 9"/>
          <p:cNvSpPr/>
          <p:nvPr/>
        </p:nvSpPr>
        <p:spPr>
          <a:xfrm>
            <a:off x="4206274" y="1964333"/>
            <a:ext cx="2513743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MySQL Server</a:t>
            </a:r>
            <a:endParaRPr lang="en-US" sz="1450" dirty="0"/>
          </a:p>
        </p:txBody>
      </p:sp>
      <p:sp>
        <p:nvSpPr>
          <p:cNvPr id="17" name="Text 10"/>
          <p:cNvSpPr/>
          <p:nvPr/>
        </p:nvSpPr>
        <p:spPr>
          <a:xfrm>
            <a:off x="4206274" y="2332236"/>
            <a:ext cx="2513743" cy="242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Core database engine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4020144" y="2896493"/>
            <a:ext cx="2886003" cy="982563"/>
          </a:xfrm>
          <a:prstGeom prst="roundRect">
            <a:avLst>
              <a:gd name="adj" fmla="val 25519"/>
            </a:avLst>
          </a:prstGeom>
          <a:solidFill>
            <a:srgbClr val="0A081B">
              <a:alpha val="75000"/>
            </a:srgbClr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4206274" y="3082627"/>
            <a:ext cx="2513743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MySQL Workbench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4206274" y="3450530"/>
            <a:ext cx="2513743" cy="242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GUI design &amp; management tool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4020144" y="4014788"/>
            <a:ext cx="2886003" cy="982563"/>
          </a:xfrm>
          <a:prstGeom prst="roundRect">
            <a:avLst>
              <a:gd name="adj" fmla="val 25519"/>
            </a:avLst>
          </a:prstGeom>
          <a:solidFill>
            <a:srgbClr val="0A081B">
              <a:alpha val="75000"/>
            </a:srgbClr>
          </a:solidFill>
          <a:ln w="19050">
            <a:solidFill>
              <a:srgbClr val="37A7E7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4206274" y="4200922"/>
            <a:ext cx="2513743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SQL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4206274" y="4568825"/>
            <a:ext cx="2513743" cy="242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Structured Query Language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4020144" y="5133082"/>
            <a:ext cx="2886003" cy="982563"/>
          </a:xfrm>
          <a:prstGeom prst="roundRect">
            <a:avLst>
              <a:gd name="adj" fmla="val 25519"/>
            </a:avLst>
          </a:prstGeom>
          <a:solidFill>
            <a:srgbClr val="0A081B">
              <a:alpha val="75000"/>
            </a:srgbClr>
          </a:solidFill>
          <a:ln w="19050">
            <a:solidFill>
              <a:srgbClr val="091231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4206274" y="5319216"/>
            <a:ext cx="2513743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RDBMS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4206274" y="5687120"/>
            <a:ext cx="2513743" cy="242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Relational Database Model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77652"/>
            <a:ext cx="10751670" cy="419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Database Structure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20012" y="1219200"/>
            <a:ext cx="1270861" cy="229394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</p:sp>
      <p:sp>
        <p:nvSpPr>
          <p:cNvPr id="4" name="Text 2"/>
          <p:cNvSpPr/>
          <p:nvPr/>
        </p:nvSpPr>
        <p:spPr>
          <a:xfrm>
            <a:off x="810597" y="1264444"/>
            <a:ext cx="1699277" cy="138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MOVIE_BOOKING_DB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20012" y="1573411"/>
            <a:ext cx="11361255" cy="209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database contains </a:t>
            </a:r>
            <a:pPr algn="l"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8 main tables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connected through primary and foreign keys to maintain data integrity.</a:t>
            </a:r>
            <a:endParaRPr lang="en-US" sz="11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12" y="1907877"/>
            <a:ext cx="302114" cy="3021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0012" y="2348607"/>
            <a:ext cx="5306483" cy="209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users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20012" y="2624931"/>
            <a:ext cx="5306483" cy="209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Customer information</a:t>
            </a:r>
            <a:endParaRPr lang="en-US" sz="11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5100" y="1907877"/>
            <a:ext cx="302114" cy="30212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65100" y="2348607"/>
            <a:ext cx="5306582" cy="209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movies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165100" y="2624931"/>
            <a:ext cx="5306582" cy="209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Movie details</a:t>
            </a:r>
            <a:endParaRPr lang="en-US" sz="11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0012" y="3056434"/>
            <a:ext cx="302114" cy="30212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0012" y="3497163"/>
            <a:ext cx="5306483" cy="209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screens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720012" y="3773488"/>
            <a:ext cx="5306483" cy="209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Cinema screens</a:t>
            </a:r>
            <a:endParaRPr lang="en-US" sz="11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65100" y="3056434"/>
            <a:ext cx="302114" cy="30212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165100" y="3497163"/>
            <a:ext cx="5306582" cy="209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seats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6165100" y="3773488"/>
            <a:ext cx="5306582" cy="209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Seat information</a:t>
            </a:r>
            <a:endParaRPr lang="en-US" sz="11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0012" y="4204990"/>
            <a:ext cx="302114" cy="30212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20012" y="4645720"/>
            <a:ext cx="5306483" cy="209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shows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720012" y="4922044"/>
            <a:ext cx="5306483" cy="209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Movie shows</a:t>
            </a:r>
            <a:endParaRPr lang="en-US" sz="11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65100" y="4204990"/>
            <a:ext cx="302114" cy="302121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165100" y="4645720"/>
            <a:ext cx="5306582" cy="209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bookings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6165100" y="4922044"/>
            <a:ext cx="5306582" cy="209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Customer bookings</a:t>
            </a:r>
            <a:endParaRPr lang="en-US" sz="115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20012" y="5353546"/>
            <a:ext cx="302114" cy="302121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20012" y="5794276"/>
            <a:ext cx="5306483" cy="209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booking_seats</a:t>
            </a:r>
            <a:endParaRPr lang="en-US" sz="1300" dirty="0"/>
          </a:p>
        </p:txBody>
      </p:sp>
      <p:sp>
        <p:nvSpPr>
          <p:cNvPr id="26" name="Text 17"/>
          <p:cNvSpPr/>
          <p:nvPr/>
        </p:nvSpPr>
        <p:spPr>
          <a:xfrm>
            <a:off x="720012" y="6070600"/>
            <a:ext cx="5306483" cy="209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Seats per booking</a:t>
            </a:r>
            <a:endParaRPr lang="en-US" sz="115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165100" y="5353546"/>
            <a:ext cx="302114" cy="302121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165100" y="5794276"/>
            <a:ext cx="5306582" cy="209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payments</a:t>
            </a:r>
            <a:endParaRPr lang="en-US" sz="1300" dirty="0"/>
          </a:p>
        </p:txBody>
      </p:sp>
      <p:sp>
        <p:nvSpPr>
          <p:cNvPr id="29" name="Text 19"/>
          <p:cNvSpPr/>
          <p:nvPr/>
        </p:nvSpPr>
        <p:spPr>
          <a:xfrm>
            <a:off x="6165100" y="6070600"/>
            <a:ext cx="5306582" cy="209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Payment records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1164134"/>
            <a:ext cx="5124917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Database Relationships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20012" y="1817886"/>
            <a:ext cx="512491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ER Diagram Overview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20012" y="2309316"/>
            <a:ext cx="5734502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Key relationships in the system: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4613" y="2844502"/>
            <a:ext cx="2459274" cy="709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6487" y="2869902"/>
            <a:ext cx="2177400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One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user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can have multiple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bookings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85656" y="2844502"/>
            <a:ext cx="2459274" cy="7092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67529" y="2869902"/>
            <a:ext cx="2177400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One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movie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can have multiple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shows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4613" y="3914378"/>
            <a:ext cx="2459274" cy="70921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6487" y="3939778"/>
            <a:ext cx="2177400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One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screen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contains multiple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seats</a:t>
            </a:r>
            <a:endParaRPr lang="en-US" sz="16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85656" y="3914378"/>
            <a:ext cx="2459274" cy="70921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667529" y="3939778"/>
            <a:ext cx="2177400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One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screen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can host multiple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shows</a:t>
            </a:r>
            <a:endParaRPr lang="en-US" sz="16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4613" y="4984254"/>
            <a:ext cx="2459274" cy="70921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76487" y="5009654"/>
            <a:ext cx="2177400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One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booking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can contain multiple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seats</a:t>
            </a:r>
            <a:endParaRPr lang="en-US" sz="16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85656" y="4984254"/>
            <a:ext cx="2459274" cy="709216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3667529" y="5009654"/>
            <a:ext cx="2177400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Each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booking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contains payment information</a:t>
            </a:r>
            <a:endParaRPr lang="en-US" sz="160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53115" y="866477"/>
            <a:ext cx="5124917" cy="51250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98190"/>
            <a:ext cx="10751670" cy="562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SQL Operations &amp; Queries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20012" y="1659037"/>
            <a:ext cx="5128787" cy="281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Basic SQL Operations (CRUD)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20012" y="2164556"/>
            <a:ext cx="5128787" cy="3403997"/>
          </a:xfrm>
          <a:prstGeom prst="roundRect">
            <a:avLst>
              <a:gd name="adj" fmla="val 8924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9062" y="2183606"/>
            <a:ext cx="2545294" cy="1843683"/>
          </a:xfrm>
          <a:custGeom>
            <a:avLst/>
            <a:gdLst/>
            <a:ahLst/>
            <a:cxnLst/>
            <a:rect l="l" t="t" r="r" b="b"/>
            <a:pathLst>
              <a:path w="2545294" h="1843683">
                <a:moveTo>
                  <a:pt x="253150" y="0"/>
                </a:moveTo>
                <a:lnTo>
                  <a:pt x="2545294" y="0"/>
                </a:lnTo>
                <a:lnTo>
                  <a:pt x="2545294" y="1843683"/>
                </a:lnTo>
                <a:lnTo>
                  <a:pt x="0" y="1843683"/>
                </a:lnTo>
                <a:lnTo>
                  <a:pt x="0" y="253157"/>
                </a:lnTo>
                <a:arcTo hR="253157" wR="253150" stAng="10800000" swAng="5400000"/>
                <a:close/>
              </a:path>
            </a:pathLst>
          </a:custGeom>
          <a:solidFill>
            <a:srgbClr val="0A081B"/>
          </a:solidFill>
          <a:ln/>
        </p:spPr>
      </p:sp>
      <p:sp>
        <p:nvSpPr>
          <p:cNvPr id="6" name="Text 4"/>
          <p:cNvSpPr/>
          <p:nvPr/>
        </p:nvSpPr>
        <p:spPr>
          <a:xfrm>
            <a:off x="938387" y="2382937"/>
            <a:ext cx="1847605" cy="281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INSERT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38387" y="2863552"/>
            <a:ext cx="1847605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Add movies, users, bookings &amp; payments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3284356" y="2183606"/>
            <a:ext cx="2545393" cy="1843683"/>
          </a:xfrm>
          <a:custGeom>
            <a:avLst/>
            <a:gdLst/>
            <a:ahLst/>
            <a:cxnLst/>
            <a:rect l="l" t="t" r="r" b="b"/>
            <a:pathLst>
              <a:path w="2545393" h="1843683">
                <a:moveTo>
                  <a:pt x="0" y="0"/>
                </a:moveTo>
                <a:lnTo>
                  <a:pt x="2292243" y="0"/>
                </a:lnTo>
                <a:arcTo hR="253157" wR="253150" stAng="16200000" swAng="5400000"/>
                <a:lnTo>
                  <a:pt x="2545393" y="1843683"/>
                </a:lnTo>
                <a:lnTo>
                  <a:pt x="0" y="1843683"/>
                </a:lnTo>
                <a:lnTo>
                  <a:pt x="0" y="0"/>
                </a:lnTo>
                <a:close/>
              </a:path>
            </a:pathLst>
          </a:custGeom>
          <a:solidFill>
            <a:srgbClr val="0A081B"/>
          </a:solidFill>
          <a:ln/>
        </p:spPr>
      </p:sp>
      <p:sp>
        <p:nvSpPr>
          <p:cNvPr id="9" name="Shape 7"/>
          <p:cNvSpPr/>
          <p:nvPr/>
        </p:nvSpPr>
        <p:spPr>
          <a:xfrm>
            <a:off x="3284356" y="2183606"/>
            <a:ext cx="25399" cy="1843683"/>
          </a:xfrm>
          <a:prstGeom prst="roundRect">
            <a:avLst>
              <a:gd name="adj" fmla="val 50001"/>
            </a:avLst>
          </a:prstGeom>
          <a:solidFill>
            <a:srgbClr val="0FC3C0"/>
          </a:solidFill>
          <a:ln/>
        </p:spPr>
      </p:sp>
      <p:sp>
        <p:nvSpPr>
          <p:cNvPr id="10" name="Text 8"/>
          <p:cNvSpPr/>
          <p:nvPr/>
        </p:nvSpPr>
        <p:spPr>
          <a:xfrm>
            <a:off x="3782719" y="2382937"/>
            <a:ext cx="1847705" cy="281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SELECT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3782719" y="2863552"/>
            <a:ext cx="184770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Retrieve data from tables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39062" y="4027289"/>
            <a:ext cx="2545294" cy="1522214"/>
          </a:xfrm>
          <a:custGeom>
            <a:avLst/>
            <a:gdLst/>
            <a:ahLst/>
            <a:cxnLst/>
            <a:rect l="l" t="t" r="r" b="b"/>
            <a:pathLst>
              <a:path w="2545294" h="1522214">
                <a:moveTo>
                  <a:pt x="0" y="0"/>
                </a:moveTo>
                <a:lnTo>
                  <a:pt x="2545294" y="0"/>
                </a:lnTo>
                <a:lnTo>
                  <a:pt x="2545294" y="1522214"/>
                </a:lnTo>
                <a:lnTo>
                  <a:pt x="253150" y="1522214"/>
                </a:lnTo>
                <a:arcTo hR="253157" wR="253150" stAng="5400000" swAng="5400000"/>
                <a:lnTo>
                  <a:pt x="0" y="0"/>
                </a:lnTo>
                <a:close/>
              </a:path>
            </a:pathLst>
          </a:custGeom>
          <a:solidFill>
            <a:srgbClr val="0A081B"/>
          </a:solidFill>
          <a:ln/>
        </p:spPr>
      </p:sp>
      <p:sp>
        <p:nvSpPr>
          <p:cNvPr id="13" name="Shape 11"/>
          <p:cNvSpPr/>
          <p:nvPr/>
        </p:nvSpPr>
        <p:spPr>
          <a:xfrm>
            <a:off x="739062" y="4027289"/>
            <a:ext cx="2545294" cy="25400"/>
          </a:xfrm>
          <a:prstGeom prst="roundRect">
            <a:avLst>
              <a:gd name="adj" fmla="val 49999"/>
            </a:avLst>
          </a:prstGeom>
          <a:solidFill>
            <a:srgbClr val="1D8DCD"/>
          </a:solidFill>
          <a:ln/>
        </p:spPr>
      </p:sp>
      <p:sp>
        <p:nvSpPr>
          <p:cNvPr id="14" name="Text 12"/>
          <p:cNvSpPr/>
          <p:nvPr/>
        </p:nvSpPr>
        <p:spPr>
          <a:xfrm>
            <a:off x="938387" y="4226620"/>
            <a:ext cx="1847605" cy="281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UPDATE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938387" y="4707235"/>
            <a:ext cx="184760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Modify existing information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3284356" y="4027289"/>
            <a:ext cx="2545393" cy="1522214"/>
          </a:xfrm>
          <a:custGeom>
            <a:avLst/>
            <a:gdLst/>
            <a:ahLst/>
            <a:cxnLst/>
            <a:rect l="l" t="t" r="r" b="b"/>
            <a:pathLst>
              <a:path w="2545393" h="1522214">
                <a:moveTo>
                  <a:pt x="0" y="0"/>
                </a:moveTo>
                <a:lnTo>
                  <a:pt x="2545393" y="0"/>
                </a:lnTo>
                <a:lnTo>
                  <a:pt x="2545393" y="1269057"/>
                </a:lnTo>
                <a:arcTo hR="253157" wR="253150" stAng="0" swAng="5400000"/>
                <a:lnTo>
                  <a:pt x="0" y="1522214"/>
                </a:lnTo>
                <a:lnTo>
                  <a:pt x="0" y="0"/>
                </a:lnTo>
                <a:close/>
              </a:path>
            </a:pathLst>
          </a:custGeom>
          <a:solidFill>
            <a:srgbClr val="0A081B"/>
          </a:solidFill>
          <a:ln/>
        </p:spPr>
      </p:sp>
      <p:sp>
        <p:nvSpPr>
          <p:cNvPr id="17" name="Shape 15"/>
          <p:cNvSpPr/>
          <p:nvPr/>
        </p:nvSpPr>
        <p:spPr>
          <a:xfrm>
            <a:off x="3284356" y="4027289"/>
            <a:ext cx="25399" cy="1522214"/>
          </a:xfrm>
          <a:prstGeom prst="roundRect">
            <a:avLst>
              <a:gd name="adj" fmla="val 50001"/>
            </a:avLst>
          </a:prstGeom>
          <a:solidFill>
            <a:srgbClr val="222B4A"/>
          </a:solidFill>
          <a:ln/>
        </p:spPr>
      </p:sp>
      <p:sp>
        <p:nvSpPr>
          <p:cNvPr id="18" name="Shape 16"/>
          <p:cNvSpPr/>
          <p:nvPr/>
        </p:nvSpPr>
        <p:spPr>
          <a:xfrm>
            <a:off x="3284356" y="4027289"/>
            <a:ext cx="2545393" cy="25400"/>
          </a:xfrm>
          <a:prstGeom prst="roundRect">
            <a:avLst>
              <a:gd name="adj" fmla="val 49999"/>
            </a:avLst>
          </a:prstGeom>
          <a:solidFill>
            <a:srgbClr val="222B4A"/>
          </a:solidFill>
          <a:ln/>
        </p:spPr>
      </p:sp>
      <p:sp>
        <p:nvSpPr>
          <p:cNvPr id="19" name="Text 17"/>
          <p:cNvSpPr/>
          <p:nvPr/>
        </p:nvSpPr>
        <p:spPr>
          <a:xfrm>
            <a:off x="3782719" y="4226620"/>
            <a:ext cx="1847705" cy="281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DELETE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3782719" y="4707235"/>
            <a:ext cx="1847705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Remove records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349246" y="1659037"/>
            <a:ext cx="5128787" cy="281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Advanced Queries</a:t>
            </a:r>
            <a:endParaRPr lang="en-US" sz="175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49246" y="2164556"/>
            <a:ext cx="2464731" cy="254377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678743" y="2392462"/>
            <a:ext cx="1907334" cy="281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JOIN Operations</a:t>
            </a:r>
            <a:endParaRPr lang="en-US" sz="1750" dirty="0"/>
          </a:p>
        </p:txBody>
      </p:sp>
      <p:sp>
        <p:nvSpPr>
          <p:cNvPr id="24" name="Text 21"/>
          <p:cNvSpPr/>
          <p:nvPr/>
        </p:nvSpPr>
        <p:spPr>
          <a:xfrm>
            <a:off x="6678743" y="2873077"/>
            <a:ext cx="1907334" cy="1607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Connect multiple tables to retrieve related data across users, bookings, movies &amp; payments</a:t>
            </a:r>
            <a:endParaRPr lang="en-US" sz="155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13302" y="2164556"/>
            <a:ext cx="2464731" cy="254377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9342799" y="2392462"/>
            <a:ext cx="1907334" cy="562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Aggregate Functions</a:t>
            </a:r>
            <a:endParaRPr lang="en-US" sz="1750" dirty="0"/>
          </a:p>
        </p:txBody>
      </p:sp>
      <p:sp>
        <p:nvSpPr>
          <p:cNvPr id="27" name="Text 23"/>
          <p:cNvSpPr/>
          <p:nvPr/>
        </p:nvSpPr>
        <p:spPr>
          <a:xfrm>
            <a:off x="9342799" y="3154363"/>
            <a:ext cx="1907334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COUNT, SUM, AVG for data analysis and reporting on bookings and revenue</a:t>
            </a:r>
            <a:endParaRPr lang="en-US" sz="1550" dirty="0"/>
          </a:p>
        </p:txBody>
      </p:sp>
      <p:sp>
        <p:nvSpPr>
          <p:cNvPr id="28" name="Shape 24"/>
          <p:cNvSpPr/>
          <p:nvPr/>
        </p:nvSpPr>
        <p:spPr>
          <a:xfrm>
            <a:off x="6349246" y="4932561"/>
            <a:ext cx="5128787" cy="1102916"/>
          </a:xfrm>
          <a:prstGeom prst="roundRect">
            <a:avLst>
              <a:gd name="adj" fmla="val 27543"/>
            </a:avLst>
          </a:prstGeom>
          <a:solidFill>
            <a:srgbClr val="00805A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1746" y="5246588"/>
            <a:ext cx="253101" cy="202505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7007347" y="5162550"/>
            <a:ext cx="426818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50" i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[Placeholder: MySQL Workbench Query Screenshot]</a:t>
            </a:r>
            <a:endParaRPr lang="en-US" sz="1550" dirty="0"/>
          </a:p>
        </p:txBody>
      </p:sp>
      <p:sp>
        <p:nvSpPr>
          <p:cNvPr id="31" name="Shape 26"/>
          <p:cNvSpPr/>
          <p:nvPr/>
        </p:nvSpPr>
        <p:spPr>
          <a:xfrm>
            <a:off x="3031255" y="2852291"/>
            <a:ext cx="506301" cy="506313"/>
          </a:xfrm>
          <a:prstGeom prst="ellipse">
            <a:avLst/>
          </a:prstGeom>
          <a:solidFill>
            <a:srgbClr val="0A081B">
              <a:alpha val="75000"/>
            </a:srgbClr>
          </a:solidFill>
          <a:ln w="25399">
            <a:solidFill>
              <a:srgbClr val="0FC3C0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57855" y="2978894"/>
            <a:ext cx="253101" cy="253107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3031255" y="4535239"/>
            <a:ext cx="506301" cy="506313"/>
          </a:xfrm>
          <a:prstGeom prst="ellipse">
            <a:avLst/>
          </a:prstGeom>
          <a:solidFill>
            <a:srgbClr val="0A081B">
              <a:alpha val="75000"/>
            </a:srgbClr>
          </a:solidFill>
          <a:ln w="25399">
            <a:solidFill>
              <a:srgbClr val="222B4A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57855" y="4661843"/>
            <a:ext cx="253101" cy="253107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6345936" y="1819655"/>
            <a:ext cx="5458968" cy="3355848"/>
          </a:xfrm>
          <a:prstGeom prst="roundRect">
            <a:avLst/>
          </a:prstGeom>
          <a:solidFill>
            <a:srgbClr val="E6F0FA"/>
          </a:solidFill>
          <a:ln>
            <a:solidFill>
              <a:srgbClr val="46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3846644e-53cc-4358-b32f-490e9c6a98e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1874519"/>
            <a:ext cx="5349240" cy="324612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400800" y="5193792"/>
            <a:ext cx="5349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CE6F5"/>
                </a:solidFill>
              </a:defRPr>
            </a:pPr>
            <a:r>
              <a:t>MySQL Workbench output: INSERT and SELECT operations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0A081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91" y="483791"/>
            <a:ext cx="4417704" cy="58904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91898" y="565745"/>
            <a:ext cx="617978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Database Views &amp; Stored Procedure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5291898" y="1283593"/>
            <a:ext cx="290167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Views Created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1898" y="1628080"/>
            <a:ext cx="2901679" cy="110867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94299" y="2037755"/>
            <a:ext cx="231372" cy="2892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043759" y="1801416"/>
            <a:ext cx="197648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movie_show_details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043759" y="2131417"/>
            <a:ext cx="1976487" cy="431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Displays movie and show information combined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1898" y="2852440"/>
            <a:ext cx="2901679" cy="11086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94299" y="3262114"/>
            <a:ext cx="231372" cy="2892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6043759" y="3025775"/>
            <a:ext cx="197648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booking_summary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043759" y="3355777"/>
            <a:ext cx="1976487" cy="431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Displays summarized booking details per user</a:t>
            </a:r>
            <a:endParaRPr lang="en-US" sz="1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1898" y="4076799"/>
            <a:ext cx="2901679" cy="110867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494299" y="4486473"/>
            <a:ext cx="231372" cy="2892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0"/>
          <p:cNvSpPr/>
          <p:nvPr/>
        </p:nvSpPr>
        <p:spPr>
          <a:xfrm>
            <a:off x="6043759" y="4250134"/>
            <a:ext cx="197648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payment_report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6043759" y="4580136"/>
            <a:ext cx="1976487" cy="431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Displays payment info with customer and movie details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8576353" y="1283593"/>
            <a:ext cx="290167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Stored Procedure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8576353" y="1613595"/>
            <a:ext cx="2901679" cy="647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Views and stored procedures </a:t>
            </a:r>
            <a:pPr algn="l" indent="0" marL="0">
              <a:lnSpc>
                <a:spcPct val="1170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simplify and organize SQL operations</a:t>
            </a:r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making data retrieval faster and more maintainable.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8576353" y="2391767"/>
            <a:ext cx="2901679" cy="717153"/>
          </a:xfrm>
          <a:prstGeom prst="roundRect">
            <a:avLst>
              <a:gd name="adj" fmla="val 32274"/>
            </a:avLst>
          </a:prstGeom>
          <a:solidFill>
            <a:srgbClr val="00805A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30635" y="2576016"/>
            <a:ext cx="192876" cy="15428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077792" y="2534345"/>
            <a:ext cx="2245959" cy="431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[Placeholder: MySQL Workbench Screenshots]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5291898" y="5445820"/>
            <a:ext cx="6179784" cy="846336"/>
          </a:xfrm>
          <a:prstGeom prst="roundRect">
            <a:avLst>
              <a:gd name="adj" fmla="val 27347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5465229" y="5619155"/>
            <a:ext cx="583312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GetUserBookings()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5465229" y="5902821"/>
            <a:ext cx="5833123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Retrieves complete booking details for a specific user by user ID</a:t>
            </a:r>
            <a:endParaRPr lang="en-US" sz="1200" dirty="0"/>
          </a:p>
        </p:txBody>
      </p:sp>
      <p:sp>
        <p:nvSpPr>
          <p:cNvPr id="26" name="Rounded Rectangle 25"/>
          <p:cNvSpPr/>
          <p:nvPr/>
        </p:nvSpPr>
        <p:spPr>
          <a:xfrm>
            <a:off x="6345936" y="1773936"/>
            <a:ext cx="5458968" cy="3447288"/>
          </a:xfrm>
          <a:prstGeom prst="roundRect">
            <a:avLst/>
          </a:prstGeom>
          <a:solidFill>
            <a:srgbClr val="E6F0FA"/>
          </a:solidFill>
          <a:ln>
            <a:solidFill>
              <a:srgbClr val="46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4579e2e4-e5a5-4e46-96b9-d232a39507bb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1828800"/>
            <a:ext cx="5349240" cy="33375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400800" y="5239512"/>
            <a:ext cx="5349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CE6F5"/>
                </a:solidFill>
              </a:defRPr>
            </a:pPr>
            <a:r>
              <a:t>Views executed successfully: movie_show_details, booking_summary, payment_report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804565"/>
            <a:ext cx="3447071" cy="344715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59593" y="828675"/>
            <a:ext cx="6818340" cy="553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Trigger &amp; Indexes</a:t>
            </a:r>
            <a:endParaRPr lang="en-US" sz="3450" dirty="0"/>
          </a:p>
        </p:txBody>
      </p:sp>
      <p:sp>
        <p:nvSpPr>
          <p:cNvPr id="4" name="Text 1"/>
          <p:cNvSpPr/>
          <p:nvPr/>
        </p:nvSpPr>
        <p:spPr>
          <a:xfrm>
            <a:off x="4659593" y="1459508"/>
            <a:ext cx="681834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Trigger: </a:t>
            </a:r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16FFBB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check_booking_amount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659593" y="1813520"/>
            <a:ext cx="681834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Indexes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4659593" y="2283420"/>
            <a:ext cx="6818340" cy="941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Indexes were created on important columns such as user ID, movie ID, and show ID to </a:t>
            </a:r>
            <a:pPr algn="l" indent="0" marL="0">
              <a:lnSpc>
                <a:spcPct val="131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improve query performance</a:t>
            </a:r>
            <a:pPr algn="l" indent="0" marL="0">
              <a:lnSpc>
                <a:spcPct val="131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and retrieve records faster — especially critical with large datasets.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4659593" y="3442395"/>
            <a:ext cx="6818340" cy="761008"/>
          </a:xfrm>
          <a:prstGeom prst="roundRect">
            <a:avLst>
              <a:gd name="adj" fmla="val 39285"/>
            </a:avLst>
          </a:prstGeom>
          <a:solidFill>
            <a:srgbClr val="00805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8819" y="3745905"/>
            <a:ext cx="249132" cy="19923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07177" y="3665934"/>
            <a:ext cx="6581114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550" i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[Placeholder: Screenshots]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720012" y="4936133"/>
            <a:ext cx="342296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Timing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720012" y="5328741"/>
            <a:ext cx="3422961" cy="627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BEFORE INSERT — fires before a new record is added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4384268" y="4936133"/>
            <a:ext cx="342306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Table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384268" y="5328741"/>
            <a:ext cx="3423060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bookings — the core transaction table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8048622" y="4936133"/>
            <a:ext cx="342296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Purpose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8048622" y="5328741"/>
            <a:ext cx="3422961" cy="941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Validates booking amount before inserting a new booking record to prevent invalid data</a:t>
            </a:r>
            <a:endParaRPr lang="en-US" sz="1550" dirty="0"/>
          </a:p>
        </p:txBody>
      </p:sp>
      <p:sp>
        <p:nvSpPr>
          <p:cNvPr id="16" name="Shape 12"/>
          <p:cNvSpPr/>
          <p:nvPr/>
        </p:nvSpPr>
        <p:spPr>
          <a:xfrm>
            <a:off x="694613" y="4686102"/>
            <a:ext cx="3473760" cy="50800"/>
          </a:xfrm>
          <a:prstGeom prst="rect">
            <a:avLst/>
          </a:prstGeom>
          <a:solidFill>
            <a:srgbClr val="16FFBB"/>
          </a:solidFill>
          <a:ln/>
        </p:spPr>
      </p:sp>
      <p:sp>
        <p:nvSpPr>
          <p:cNvPr id="17" name="Shape 13"/>
          <p:cNvSpPr/>
          <p:nvPr/>
        </p:nvSpPr>
        <p:spPr>
          <a:xfrm>
            <a:off x="4358868" y="4686102"/>
            <a:ext cx="3473859" cy="50800"/>
          </a:xfrm>
          <a:prstGeom prst="rect">
            <a:avLst/>
          </a:prstGeom>
          <a:solidFill>
            <a:srgbClr val="29DDDA"/>
          </a:solidFill>
          <a:ln/>
        </p:spPr>
      </p:sp>
      <p:sp>
        <p:nvSpPr>
          <p:cNvPr id="18" name="Shape 14"/>
          <p:cNvSpPr/>
          <p:nvPr/>
        </p:nvSpPr>
        <p:spPr>
          <a:xfrm>
            <a:off x="8023223" y="4686102"/>
            <a:ext cx="3473760" cy="50800"/>
          </a:xfrm>
          <a:prstGeom prst="rect">
            <a:avLst/>
          </a:prstGeom>
          <a:solidFill>
            <a:srgbClr val="37A7E7"/>
          </a:solidFill>
          <a:ln/>
        </p:spPr>
      </p:sp>
      <p:sp>
        <p:nvSpPr>
          <p:cNvPr id="19" name="Rounded Rectangle 18"/>
          <p:cNvSpPr/>
          <p:nvPr/>
        </p:nvSpPr>
        <p:spPr>
          <a:xfrm>
            <a:off x="6345936" y="1636776"/>
            <a:ext cx="5458968" cy="2075688"/>
          </a:xfrm>
          <a:prstGeom prst="roundRect">
            <a:avLst/>
          </a:prstGeom>
          <a:solidFill>
            <a:srgbClr val="E6F0FA"/>
          </a:solidFill>
          <a:ln>
            <a:solidFill>
              <a:srgbClr val="46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bf9005e-d862-4d4c-9d41-2688ae272ca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691640"/>
            <a:ext cx="5349240" cy="19659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00800" y="3730752"/>
            <a:ext cx="5349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CE6F5"/>
                </a:solidFill>
              </a:defRPr>
            </a:pPr>
            <a:r>
              <a:t>Trigger verification: check_booking_amount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45936" y="3831336"/>
            <a:ext cx="5458968" cy="2075688"/>
          </a:xfrm>
          <a:prstGeom prst="roundRect">
            <a:avLst/>
          </a:prstGeom>
          <a:solidFill>
            <a:srgbClr val="E6F0FA"/>
          </a:solidFill>
          <a:ln>
            <a:solidFill>
              <a:srgbClr val="46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9b83df5a-2bb7-4297-ab48-04314ded9db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886200"/>
            <a:ext cx="5349240" cy="19659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00800" y="5925312"/>
            <a:ext cx="5349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CE6F5"/>
                </a:solidFill>
              </a:defRPr>
            </a:pPr>
            <a:r>
              <a:t>Indexes created and verified in MySQL Workbench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71202"/>
            <a:ext cx="10751670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Transactions: COMMIT &amp; ROLLBACK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20012" y="1072257"/>
            <a:ext cx="11361255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project demonstrates database transactions for </a:t>
            </a:r>
            <a:pPr algn="l" indent="0" marL="0">
              <a:lnSpc>
                <a:spcPct val="107000"/>
              </a:lnSpc>
              <a:buNone/>
            </a:pPr>
            <a:r>
              <a:rPr lang="en-US" sz="9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 consistency and integrity</a:t>
            </a:r>
            <a:pPr algn="l" indent="0" marL="0">
              <a:lnSpc>
                <a:spcPct val="107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348" y="1319609"/>
            <a:ext cx="10152999" cy="41626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23866" y="1906806"/>
            <a:ext cx="2150332" cy="268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Commit or Rollback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5423866" y="2261619"/>
            <a:ext cx="4892003" cy="1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5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Save or undo changes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23866" y="3111021"/>
            <a:ext cx="2150332" cy="268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Database Operations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5423866" y="3465835"/>
            <a:ext cx="4892003" cy="194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5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INSERT, UPDATE, DELETE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23866" y="4325989"/>
            <a:ext cx="2150332" cy="268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Start Transaction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5423866" y="4680803"/>
            <a:ext cx="4892003" cy="194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5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Begin atomic operations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20012" y="5644555"/>
            <a:ext cx="5222943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COMMIT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20012" y="5895082"/>
            <a:ext cx="5222943" cy="322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Permanently saves all changes made during a transaction. Once committed, data is written to the database and cannot be undone.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255090" y="5644555"/>
            <a:ext cx="5222943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ROLLBACK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255090" y="5895082"/>
            <a:ext cx="5222943" cy="322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Cancels and undoes all changes made during a transaction. Restores the database to its previous stable state.</a:t>
            </a:r>
            <a:endParaRPr lang="en-US" sz="950" dirty="0"/>
          </a:p>
        </p:txBody>
      </p:sp>
      <p:sp>
        <p:nvSpPr>
          <p:cNvPr id="15" name="Rounded Rectangle 14"/>
          <p:cNvSpPr/>
          <p:nvPr/>
        </p:nvSpPr>
        <p:spPr>
          <a:xfrm>
            <a:off x="6345936" y="1773936"/>
            <a:ext cx="5458968" cy="3447288"/>
          </a:xfrm>
          <a:prstGeom prst="roundRect">
            <a:avLst/>
          </a:prstGeom>
          <a:solidFill>
            <a:srgbClr val="E6F0FA"/>
          </a:solidFill>
          <a:ln>
            <a:solidFill>
              <a:srgbClr val="46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4a7d488f-78ab-4b7e-bcb3-e8afe3cf40f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828800"/>
            <a:ext cx="5349240" cy="33375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00800" y="5239512"/>
            <a:ext cx="5349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CE6F5"/>
                </a:solidFill>
              </a:defRPr>
            </a:pPr>
            <a:r>
              <a:t>Transaction test showing COMMIT and ROLLBACK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88268"/>
            <a:ext cx="10751670" cy="508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Database Backup &amp; Project 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20012" y="1505148"/>
            <a:ext cx="5152301" cy="254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Database Backup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20012" y="1922760"/>
            <a:ext cx="5152301" cy="1108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complete backup of </a:t>
            </a:r>
            <a:pPr algn="l" indent="0" marL="0">
              <a:lnSpc>
                <a:spcPct val="126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movie_booking_db</a:t>
            </a:r>
            <a:pPr algn="l"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was created using MySQL Workbench, containing the full database structure, all tables, inserted data, and all database objects (views, procedures, triggers).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20012" y="3214787"/>
            <a:ext cx="5152301" cy="662285"/>
          </a:xfrm>
          <a:prstGeom prst="roundRect">
            <a:avLst>
              <a:gd name="adj" fmla="val 41500"/>
            </a:avLst>
          </a:prstGeom>
          <a:solidFill>
            <a:srgbClr val="00805A"/>
          </a:solidFill>
          <a:ln/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166" y="3472855"/>
            <a:ext cx="228991" cy="1831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25732" y="1505148"/>
            <a:ext cx="5152301" cy="254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Successfully Implemented ✓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325732" y="1943199"/>
            <a:ext cx="2494595" cy="913408"/>
          </a:xfrm>
          <a:prstGeom prst="roundRect">
            <a:avLst>
              <a:gd name="adj" fmla="val 30090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527934" y="2145407"/>
            <a:ext cx="2090189" cy="50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✓ Tables &amp; Primary Keys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983438" y="1943199"/>
            <a:ext cx="2494595" cy="913408"/>
          </a:xfrm>
          <a:prstGeom prst="roundRect">
            <a:avLst>
              <a:gd name="adj" fmla="val 30090"/>
            </a:avLst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9185641" y="2145407"/>
            <a:ext cx="2090189" cy="50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✓ Foreign Keys &amp; Relationships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325732" y="3019723"/>
            <a:ext cx="2494595" cy="913408"/>
          </a:xfrm>
          <a:prstGeom prst="roundRect">
            <a:avLst>
              <a:gd name="adj" fmla="val 30090"/>
            </a:avLst>
          </a:prstGeom>
          <a:solidFill>
            <a:srgbClr val="0A081B"/>
          </a:solidFill>
          <a:ln w="19050">
            <a:solidFill>
              <a:srgbClr val="37A7E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527934" y="3221930"/>
            <a:ext cx="2090189" cy="50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✓ Data Insertion &amp; Management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983438" y="3019723"/>
            <a:ext cx="2494595" cy="913408"/>
          </a:xfrm>
          <a:prstGeom prst="roundRect">
            <a:avLst>
              <a:gd name="adj" fmla="val 30090"/>
            </a:avLst>
          </a:prstGeom>
          <a:solidFill>
            <a:srgbClr val="0A081B"/>
          </a:solidFill>
          <a:ln w="19050">
            <a:solidFill>
              <a:srgbClr val="091231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9185641" y="3221930"/>
            <a:ext cx="2090189" cy="50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✓ SQL Queries &amp; JOINs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325732" y="4096246"/>
            <a:ext cx="2494595" cy="913408"/>
          </a:xfrm>
          <a:prstGeom prst="roundRect">
            <a:avLst>
              <a:gd name="adj" fmla="val 30090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527934" y="4298454"/>
            <a:ext cx="2090189" cy="50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✓ Views &amp; Stored Procedure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983438" y="4096246"/>
            <a:ext cx="2494595" cy="913408"/>
          </a:xfrm>
          <a:prstGeom prst="roundRect">
            <a:avLst>
              <a:gd name="adj" fmla="val 30090"/>
            </a:avLst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9185641" y="4298454"/>
            <a:ext cx="2090189" cy="50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✓ Trigger for Validation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325732" y="5172770"/>
            <a:ext cx="2494595" cy="913408"/>
          </a:xfrm>
          <a:prstGeom prst="roundRect">
            <a:avLst>
              <a:gd name="adj" fmla="val 30090"/>
            </a:avLst>
          </a:prstGeom>
          <a:solidFill>
            <a:srgbClr val="0A081B"/>
          </a:solidFill>
          <a:ln w="19050">
            <a:solidFill>
              <a:srgbClr val="37A7E7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6527934" y="5374977"/>
            <a:ext cx="2090189" cy="50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✓ Indexes for Performance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983438" y="5172770"/>
            <a:ext cx="2494595" cy="913408"/>
          </a:xfrm>
          <a:prstGeom prst="roundRect">
            <a:avLst>
              <a:gd name="adj" fmla="val 30090"/>
            </a:avLst>
          </a:prstGeom>
          <a:solidFill>
            <a:srgbClr val="0A081B"/>
          </a:solidFill>
          <a:ln w="19050">
            <a:solidFill>
              <a:srgbClr val="091231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9185641" y="5374977"/>
            <a:ext cx="2090189" cy="50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✓ Transactions &amp; Backup</a:t>
            </a:r>
            <a:endParaRPr lang="en-US" sz="1600" dirty="0"/>
          </a:p>
        </p:txBody>
      </p:sp>
      <p:sp>
        <p:nvSpPr>
          <p:cNvPr id="25" name="Rounded Rectangle 24"/>
          <p:cNvSpPr/>
          <p:nvPr/>
        </p:nvSpPr>
        <p:spPr>
          <a:xfrm>
            <a:off x="1819655" y="2825496"/>
            <a:ext cx="8522207" cy="3264408"/>
          </a:xfrm>
          <a:prstGeom prst="roundRect">
            <a:avLst/>
          </a:prstGeom>
          <a:solidFill>
            <a:srgbClr val="E6F0FA"/>
          </a:solidFill>
          <a:ln>
            <a:solidFill>
              <a:srgbClr val="46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50dd4c92-52fc-4199-8a1f-65c67b56375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4519" y="2880360"/>
            <a:ext cx="8412480" cy="31546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874519" y="6108192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CE6F5"/>
                </a:solidFill>
              </a:defRPr>
            </a:pPr>
            <a:r>
              <a:t>Database backup completed successfully: 12 of 12 objects exported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0A081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29" y="477441"/>
            <a:ext cx="4427228" cy="59031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91898" y="600373"/>
            <a:ext cx="6179784" cy="401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Conclusion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291898" y="1154708"/>
            <a:ext cx="6179784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</a:t>
            </a:r>
            <a:pPr algn="l" indent="0" marL="0">
              <a:lnSpc>
                <a:spcPct val="114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Movie Ticket Booking Management System</a:t>
            </a:r>
            <a:pPr algn="l"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successfully demonstrates important DBMS concepts using MySQL — providing a structured way to manage movies, screens, seats, shows, users, bookings, and payments.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291898" y="1860252"/>
            <a:ext cx="578629" cy="867966"/>
          </a:xfrm>
          <a:prstGeom prst="roundRect">
            <a:avLst>
              <a:gd name="adj" fmla="val 50000"/>
            </a:avLst>
          </a:prstGeom>
          <a:solidFill>
            <a:srgbClr val="0A081B"/>
          </a:solidFill>
          <a:ln w="12700">
            <a:solidFill>
              <a:srgbClr val="16FFBB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2670" y="2185690"/>
            <a:ext cx="216986" cy="2169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72224" y="2004913"/>
            <a:ext cx="5499459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Relationships &amp; Integrity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5291898" y="2829917"/>
            <a:ext cx="578629" cy="867966"/>
          </a:xfrm>
          <a:prstGeom prst="roundRect">
            <a:avLst>
              <a:gd name="adj" fmla="val 50000"/>
            </a:avLst>
          </a:prstGeom>
          <a:solidFill>
            <a:srgbClr val="0A081B"/>
          </a:solidFill>
          <a:ln w="12700">
            <a:solidFill>
              <a:srgbClr val="29DDDA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72670" y="3155355"/>
            <a:ext cx="216986" cy="21699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972224" y="2974578"/>
            <a:ext cx="5499459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SQL Queries &amp; Views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5291898" y="3799582"/>
            <a:ext cx="578629" cy="867966"/>
          </a:xfrm>
          <a:prstGeom prst="roundRect">
            <a:avLst>
              <a:gd name="adj" fmla="val 50000"/>
            </a:avLst>
          </a:prstGeom>
          <a:solidFill>
            <a:srgbClr val="0A081B"/>
          </a:solidFill>
          <a:ln w="12700">
            <a:solidFill>
              <a:srgbClr val="37A7E7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72670" y="4125020"/>
            <a:ext cx="216986" cy="21699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972224" y="3944243"/>
            <a:ext cx="5499459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Triggers &amp; Indexes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5291898" y="4769247"/>
            <a:ext cx="578629" cy="867966"/>
          </a:xfrm>
          <a:prstGeom prst="roundRect">
            <a:avLst>
              <a:gd name="adj" fmla="val 50000"/>
            </a:avLst>
          </a:prstGeom>
          <a:solidFill>
            <a:srgbClr val="0A081B"/>
          </a:solidFill>
          <a:ln w="12700">
            <a:solidFill>
              <a:srgbClr val="091231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72670" y="5094684"/>
            <a:ext cx="216986" cy="21699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972224" y="4913908"/>
            <a:ext cx="5499459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Transactions &amp; Backup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5508884" y="5904111"/>
            <a:ext cx="5962798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Thank You  </a:t>
            </a:r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🎬</a:t>
            </a:r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  Questions?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5291898" y="5751612"/>
            <a:ext cx="19050" cy="505916"/>
          </a:xfrm>
          <a:prstGeom prst="roundRect">
            <a:avLst>
              <a:gd name="adj" fmla="val 49999"/>
            </a:avLst>
          </a:prstGeom>
          <a:solidFill>
            <a:srgbClr val="16FFB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2026-08-25T17:43:55Z</dcterms:created>
  <dcterms:modified xsi:type="dcterms:W3CDTF">2026-08-25T17:43:55Z</dcterms:modified>
</cp:coreProperties>
</file>